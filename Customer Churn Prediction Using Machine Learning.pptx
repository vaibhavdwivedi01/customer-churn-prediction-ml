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9A02B-273C-DF2A-4717-B800654E2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A7FC34-5A9B-48AC-3924-F6BB9E8434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47DB7-07C7-D806-CBFA-8939F3A60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BC1AC-53D4-47FA-8003-F9B4E12AB88D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EF344-CC82-CC74-A42A-4BACB88E4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B68C3-FE58-631D-A72A-715FC58E4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71E7B-A48C-4C47-B28A-32D42526F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606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2756A-6B97-7B76-F3CC-48BC8E13E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6AC66-4C04-2F35-62EA-9AEED2979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13915-B26D-9D65-044E-AA849FC0D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BC1AC-53D4-47FA-8003-F9B4E12AB88D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8071E-3357-F495-1383-59062362F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DD288-C703-9C08-7DF3-1B1401581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71E7B-A48C-4C47-B28A-32D42526F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255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8F8AA-D2F1-19D5-C2D5-A3AFCA2FA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A0753-5556-D0A8-A0AD-4BE7D9394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82B45-D3B3-5268-B0DB-06DC7FC7A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BC1AC-53D4-47FA-8003-F9B4E12AB88D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7D71B-DA13-C112-4A10-745CC231D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442B6-B828-77CA-B235-A3AB610B5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71E7B-A48C-4C47-B28A-32D42526F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82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B2233-4ADA-5856-3BEA-FDB5F4B0D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0F5A8-A661-E22E-06DB-997E130591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83176D-A85E-44CD-3C86-5D03B346C8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32AC06-EE45-9B33-C408-96EF8ED9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BC1AC-53D4-47FA-8003-F9B4E12AB88D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86C951-2E25-9481-2656-537D40728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EC3424-351A-DD44-C08F-D69285355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71E7B-A48C-4C47-B28A-32D42526F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364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9A22E-C475-47F1-D9F3-B2F0FAA5D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5D44F4-48B2-CE79-3BD3-1E00CC5DD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80A8C-6BA6-979B-C174-9A18D9E2E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9B0110-67D0-E453-32CA-9D46751E95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153023-6A5D-B925-4BF2-C33FE9D67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B2A4C2-4114-6F6D-2B37-82231745F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BC1AC-53D4-47FA-8003-F9B4E12AB88D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5010B9-BAC0-24E9-F908-1595C74C8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87F25F-1ADA-5327-4A89-16E6E541D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71E7B-A48C-4C47-B28A-32D42526F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660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87C3C-3C1D-B200-A4A7-64976BC22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B5CD35-B939-D84C-EAB4-BD32201E8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BC1AC-53D4-47FA-8003-F9B4E12AB88D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29491A-F1C7-7E3D-EFF8-950CE34E1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B4ED-FDE7-1739-0B09-92344CCEC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71E7B-A48C-4C47-B28A-32D42526F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265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8DA71D-5000-9222-BD23-0CB6AFA3E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BC1AC-53D4-47FA-8003-F9B4E12AB88D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4D2EF4-9EE6-7447-5E4E-B0C05A3CD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5E650-B006-9340-3310-AC74D8E81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71E7B-A48C-4C47-B28A-32D42526F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226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BFF5B-84B7-0C1B-1C21-17FC45B01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B4972-032F-08B9-4BA2-794C7D3E0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4634F6-A90E-18A7-9FA9-CCF874CFEC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FC010-4752-3B43-0894-61A9CED0F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BC1AC-53D4-47FA-8003-F9B4E12AB88D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27AB78-E3C8-6BCA-B38B-BA9F223E1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E0818-1EE3-B194-53C6-AE3BAC185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71E7B-A48C-4C47-B28A-32D42526F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830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A2272-2A55-14E4-F7CB-67227BCE6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F01244-3CD9-132A-8D41-8244F0C3DD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104A9D-639A-F327-B432-C7B93A214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D8A11-0030-C288-3FF2-8DBD78DBE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BC1AC-53D4-47FA-8003-F9B4E12AB88D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7CD452-8758-63C9-1300-8D1C0E97B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09DB41-A120-ED1D-0A3D-2E09F3EC8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71E7B-A48C-4C47-B28A-32D42526F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8734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D92E1-4314-6603-3F65-930C00490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24FD9E-39F4-AD77-25C3-5790A7C632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6AAF7-17D7-3D14-8768-3E1657DD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BC1AC-53D4-47FA-8003-F9B4E12AB88D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FBCF2-88D7-84F5-3FE5-E7AAF8361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1688F-78EC-0D4A-3D7C-C20E71DEB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71E7B-A48C-4C47-B28A-32D42526F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235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526DC7-6F3C-D4F4-B1A8-89EE91434B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E1F719-A54A-F021-2A9A-B3B98CE5B3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29B46-B8B4-AB67-4E20-DC48720DD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BC1AC-53D4-47FA-8003-F9B4E12AB88D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18D32-9965-1269-A539-A637F0693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28890-321E-B889-5498-4E97A181A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71E7B-A48C-4C47-B28A-32D42526F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07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B2DDE4-8475-B9FE-A4E3-2DA5565A4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1928BF-FAE5-8E8D-1D53-E0FDB61CC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4DFD2-EE39-FA37-0B0E-9DB3B082C2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BC1AC-53D4-47FA-8003-F9B4E12AB88D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B1331-E373-9E0F-5CD0-D5DE70B30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54154-2574-08D9-C6E1-FD64F10AA0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71E7B-A48C-4C47-B28A-32D42526F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1762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32DA4-94AC-9FF8-9116-214720D80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5429" y="0"/>
            <a:ext cx="11473542" cy="2387600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/>
              <a:t>Customer Churn Prediction Using Machine Learning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54C0C0-9819-E361-2901-6C0E411D90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429" y="2742066"/>
            <a:ext cx="9144000" cy="2387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IN" sz="3000" b="1" dirty="0"/>
              <a:t>GALGOTIAS UNIVERSITY</a:t>
            </a:r>
          </a:p>
          <a:p>
            <a:pPr algn="l"/>
            <a:r>
              <a:rPr lang="en-IN" sz="3000" b="1" dirty="0"/>
              <a:t>Course:</a:t>
            </a:r>
            <a:r>
              <a:rPr lang="en-IN" sz="3000" dirty="0"/>
              <a:t> Machine Learning (R1UC525B)</a:t>
            </a:r>
            <a:br>
              <a:rPr lang="en-IN" sz="3000" dirty="0"/>
            </a:br>
            <a:r>
              <a:rPr lang="en-IN" sz="3000" b="1" dirty="0"/>
              <a:t>Course Lead:</a:t>
            </a:r>
            <a:r>
              <a:rPr lang="en-IN" sz="3000" dirty="0"/>
              <a:t> Dr. Vartika Puri</a:t>
            </a:r>
          </a:p>
          <a:p>
            <a:pPr algn="l"/>
            <a:r>
              <a:rPr lang="en-IN" sz="3000" b="1" dirty="0"/>
              <a:t>Team Members:</a:t>
            </a:r>
          </a:p>
          <a:p>
            <a:pPr algn="l"/>
            <a:r>
              <a:rPr lang="en-IN" sz="3000" dirty="0"/>
              <a:t>Member 1 : </a:t>
            </a:r>
            <a:r>
              <a:rPr lang="en-IN" sz="3000" b="1" dirty="0"/>
              <a:t>Vaibhav Dwivedi   - 23SCSE1420093</a:t>
            </a:r>
          </a:p>
          <a:p>
            <a:pPr algn="l"/>
            <a:r>
              <a:rPr lang="en-IN" sz="3000" dirty="0"/>
              <a:t>Member 2 : </a:t>
            </a:r>
            <a:r>
              <a:rPr lang="en-IN" sz="3000" b="1" dirty="0"/>
              <a:t>Shreya Yadav – 23SCSE1420150</a:t>
            </a:r>
          </a:p>
          <a:p>
            <a:pPr algn="just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A28F1A-6F78-93FF-E8AF-3247412F46E7}"/>
              </a:ext>
            </a:extLst>
          </p:cNvPr>
          <p:cNvSpPr txBox="1"/>
          <p:nvPr/>
        </p:nvSpPr>
        <p:spPr>
          <a:xfrm>
            <a:off x="0" y="6444343"/>
            <a:ext cx="12192000" cy="41365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1235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5FE75-D197-D66D-B4DE-2850428F8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25286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pPr algn="ctr"/>
            <a:r>
              <a:rPr lang="en-IN" dirty="0"/>
              <a:t>Introduction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4F7B6-D1C4-CFAF-0FA7-0CEA70ED8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0196"/>
            <a:ext cx="10515600" cy="4351338"/>
          </a:xfrm>
        </p:spPr>
        <p:txBody>
          <a:bodyPr/>
          <a:lstStyle/>
          <a:p>
            <a:r>
              <a:rPr lang="en-IN" dirty="0"/>
              <a:t>Customer churn means customers stop using a service.</a:t>
            </a:r>
          </a:p>
          <a:p>
            <a:r>
              <a:rPr lang="en-IN" dirty="0"/>
              <a:t>Retaining customers is cheaper than acquiring new ones.</a:t>
            </a:r>
          </a:p>
          <a:p>
            <a:r>
              <a:rPr lang="en-IN" dirty="0"/>
              <a:t>Early churn prediction helps companies take preventive actions.</a:t>
            </a:r>
          </a:p>
          <a:p>
            <a:r>
              <a:rPr lang="en-IN" dirty="0"/>
              <a:t>Machine Learning enables automated and accurate churn prediction.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B0C5FA-8AD5-6630-4D15-9B7012700630}"/>
              </a:ext>
            </a:extLst>
          </p:cNvPr>
          <p:cNvSpPr txBox="1"/>
          <p:nvPr/>
        </p:nvSpPr>
        <p:spPr>
          <a:xfrm>
            <a:off x="0" y="6444343"/>
            <a:ext cx="12192000" cy="41365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3892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19086-9E9E-60F0-613A-4835F9071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88571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pPr algn="ctr"/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23160-5BD0-BF93-A318-1EA9643AF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390196"/>
            <a:ext cx="10515600" cy="4351338"/>
          </a:xfrm>
        </p:spPr>
        <p:txBody>
          <a:bodyPr/>
          <a:lstStyle/>
          <a:p>
            <a:r>
              <a:rPr lang="en-IN" dirty="0"/>
              <a:t>Predict whether a customer will </a:t>
            </a:r>
            <a:r>
              <a:rPr lang="en-IN" b="1" dirty="0"/>
              <a:t>churn (Yes/No)</a:t>
            </a:r>
            <a:endParaRPr lang="en-IN" dirty="0"/>
          </a:p>
          <a:p>
            <a:r>
              <a:rPr lang="en-IN" dirty="0"/>
              <a:t>Use historical customer data</a:t>
            </a:r>
          </a:p>
          <a:p>
            <a:r>
              <a:rPr lang="en-IN" dirty="0"/>
              <a:t>Help businesses reduce customer loss</a:t>
            </a:r>
          </a:p>
          <a:p>
            <a:r>
              <a:rPr lang="en-IN" dirty="0"/>
              <a:t>ML Task: </a:t>
            </a:r>
            <a:r>
              <a:rPr lang="en-IN" b="1" dirty="0"/>
              <a:t>Binary Classification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5F8635-2C0B-0DF6-48C6-06A7FC9462A0}"/>
              </a:ext>
            </a:extLst>
          </p:cNvPr>
          <p:cNvSpPr txBox="1"/>
          <p:nvPr/>
        </p:nvSpPr>
        <p:spPr>
          <a:xfrm>
            <a:off x="0" y="6444343"/>
            <a:ext cx="12192000" cy="41365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9606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0DFB7-43D5-42E7-B3CD-7C431929B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10343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pPr algn="ctr"/>
            <a:r>
              <a:rPr lang="en-IN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9B6FC-ACC7-9B55-4EC0-136D44399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016840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Dataset:</a:t>
            </a:r>
            <a:r>
              <a:rPr lang="en-IN" dirty="0"/>
              <a:t> Telco Customer Churn</a:t>
            </a:r>
          </a:p>
          <a:p>
            <a:r>
              <a:rPr lang="en-IN" b="1" dirty="0"/>
              <a:t>Source:</a:t>
            </a:r>
            <a:r>
              <a:rPr lang="en-IN" dirty="0"/>
              <a:t> Kaggle (Public dataset) “https://www.kaggle.com/datasets/</a:t>
            </a:r>
            <a:r>
              <a:rPr lang="en-IN" dirty="0" err="1"/>
              <a:t>blastchar</a:t>
            </a:r>
            <a:r>
              <a:rPr lang="en-IN" dirty="0"/>
              <a:t>/telco-customer-churn”</a:t>
            </a:r>
          </a:p>
          <a:p>
            <a:r>
              <a:rPr lang="en-IN" b="1" dirty="0"/>
              <a:t>Records:</a:t>
            </a:r>
            <a:r>
              <a:rPr lang="en-IN" dirty="0"/>
              <a:t> 7043 customers</a:t>
            </a:r>
          </a:p>
          <a:p>
            <a:r>
              <a:rPr lang="en-IN" b="1" dirty="0"/>
              <a:t>Features:</a:t>
            </a:r>
            <a:r>
              <a:rPr lang="en-IN" dirty="0"/>
              <a:t> 19 input features + 1 target</a:t>
            </a:r>
          </a:p>
          <a:p>
            <a:r>
              <a:rPr lang="en-IN" b="1" dirty="0"/>
              <a:t>Target Variable:</a:t>
            </a:r>
            <a:r>
              <a:rPr lang="en-IN" dirty="0"/>
              <a:t> Churn</a:t>
            </a:r>
          </a:p>
          <a:p>
            <a:r>
              <a:rPr lang="en-IN" b="1" dirty="0"/>
              <a:t>Examples of Features:</a:t>
            </a:r>
            <a:endParaRPr lang="en-IN" dirty="0"/>
          </a:p>
          <a:p>
            <a:pPr lvl="0"/>
            <a:r>
              <a:rPr lang="en-IN" dirty="0"/>
              <a:t>Tenure</a:t>
            </a:r>
          </a:p>
          <a:p>
            <a:pPr lvl="0"/>
            <a:r>
              <a:rPr lang="en-IN" dirty="0"/>
              <a:t>Monthly Charges</a:t>
            </a:r>
          </a:p>
          <a:p>
            <a:pPr lvl="0"/>
            <a:r>
              <a:rPr lang="en-IN" dirty="0"/>
              <a:t>Contract Type</a:t>
            </a:r>
          </a:p>
          <a:p>
            <a:pPr lvl="0"/>
            <a:r>
              <a:rPr lang="en-IN" dirty="0"/>
              <a:t>Internet Service</a:t>
            </a:r>
          </a:p>
          <a:p>
            <a:pPr lvl="0"/>
            <a:r>
              <a:rPr lang="en-IN" dirty="0"/>
              <a:t>Payment Method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35CCEE-73C9-36D6-A81B-17D71CA01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056" y="2793697"/>
            <a:ext cx="5617029" cy="29034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99E182-47AA-5E2C-F13B-589E050723F6}"/>
              </a:ext>
            </a:extLst>
          </p:cNvPr>
          <p:cNvSpPr txBox="1"/>
          <p:nvPr/>
        </p:nvSpPr>
        <p:spPr>
          <a:xfrm>
            <a:off x="0" y="6444343"/>
            <a:ext cx="12192000" cy="41365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5570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A7701-539D-4C0C-F265-AF82BB58C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1066800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pPr algn="ctr"/>
            <a:r>
              <a:rPr lang="en-IN" dirty="0"/>
              <a:t>Data Pre-Processing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E4A1E-2A9D-635C-6F00-467F220EA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01082"/>
            <a:ext cx="10515600" cy="4351338"/>
          </a:xfrm>
        </p:spPr>
        <p:txBody>
          <a:bodyPr/>
          <a:lstStyle/>
          <a:p>
            <a:pPr lvl="0"/>
            <a:r>
              <a:rPr lang="en-IN" dirty="0"/>
              <a:t>Removed irrelevant column (Customer ID)</a:t>
            </a:r>
          </a:p>
          <a:p>
            <a:pPr lvl="0"/>
            <a:r>
              <a:rPr lang="en-IN" dirty="0"/>
              <a:t>Handled missing values in </a:t>
            </a:r>
            <a:r>
              <a:rPr lang="en-IN" dirty="0" err="1"/>
              <a:t>TotalCharges</a:t>
            </a:r>
            <a:endParaRPr lang="en-IN" dirty="0"/>
          </a:p>
          <a:p>
            <a:pPr lvl="0"/>
            <a:r>
              <a:rPr lang="en-IN" dirty="0"/>
              <a:t>Encoded categorical variables</a:t>
            </a:r>
          </a:p>
          <a:p>
            <a:pPr lvl="0"/>
            <a:r>
              <a:rPr lang="en-IN" dirty="0"/>
              <a:t>Feature scaling using </a:t>
            </a:r>
            <a:r>
              <a:rPr lang="en-IN" dirty="0" err="1"/>
              <a:t>StandardScaler</a:t>
            </a:r>
            <a:endParaRPr lang="en-IN" dirty="0"/>
          </a:p>
          <a:p>
            <a:pPr lvl="0"/>
            <a:r>
              <a:rPr lang="en-IN" dirty="0"/>
              <a:t>Dataset split:</a:t>
            </a:r>
          </a:p>
          <a:p>
            <a:pPr lvl="1"/>
            <a:r>
              <a:rPr lang="en-IN" dirty="0"/>
              <a:t>70% Training</a:t>
            </a:r>
          </a:p>
          <a:p>
            <a:pPr lvl="1"/>
            <a:r>
              <a:rPr lang="en-IN" dirty="0"/>
              <a:t>15% Validation</a:t>
            </a:r>
          </a:p>
          <a:p>
            <a:pPr lvl="1"/>
            <a:r>
              <a:rPr lang="en-IN" dirty="0"/>
              <a:t>15% Testing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78B4ED-3C10-C6AB-6055-3F67C350CAE9}"/>
              </a:ext>
            </a:extLst>
          </p:cNvPr>
          <p:cNvSpPr txBox="1"/>
          <p:nvPr/>
        </p:nvSpPr>
        <p:spPr>
          <a:xfrm>
            <a:off x="0" y="6444343"/>
            <a:ext cx="12192000" cy="41365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301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621EB-F334-CA99-A481-946927B68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77686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pPr algn="ctr"/>
            <a:r>
              <a:rPr lang="en-IN" dirty="0"/>
              <a:t>Machine Learning Models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CE5C8-83F3-DD36-4D98-929DDE53A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84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Model 1: Logistic Regression</a:t>
            </a:r>
            <a:endParaRPr lang="en-IN" dirty="0"/>
          </a:p>
          <a:p>
            <a:pPr lvl="0"/>
            <a:r>
              <a:rPr lang="en-IN" dirty="0"/>
              <a:t>Simple and interpretable</a:t>
            </a:r>
          </a:p>
          <a:p>
            <a:pPr lvl="0"/>
            <a:r>
              <a:rPr lang="en-IN" dirty="0"/>
              <a:t>Baseline classification model</a:t>
            </a:r>
          </a:p>
          <a:p>
            <a:pPr marL="0" indent="0">
              <a:buNone/>
            </a:pPr>
            <a:r>
              <a:rPr lang="en-IN" b="1" dirty="0"/>
              <a:t>Model 2: Random Forest</a:t>
            </a:r>
            <a:endParaRPr lang="en-IN" dirty="0"/>
          </a:p>
          <a:p>
            <a:pPr lvl="0"/>
            <a:r>
              <a:rPr lang="en-IN" dirty="0"/>
              <a:t>Ensemble learning method</a:t>
            </a:r>
          </a:p>
          <a:p>
            <a:pPr lvl="0"/>
            <a:r>
              <a:rPr lang="en-IN" dirty="0"/>
              <a:t>Handles non-linear relationships</a:t>
            </a:r>
          </a:p>
          <a:p>
            <a:pPr lvl="0"/>
            <a:r>
              <a:rPr lang="en-IN" dirty="0"/>
              <a:t>Reduces overfitting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6B73C5-9153-7E2A-1900-DDE322970A00}"/>
              </a:ext>
            </a:extLst>
          </p:cNvPr>
          <p:cNvSpPr txBox="1"/>
          <p:nvPr/>
        </p:nvSpPr>
        <p:spPr>
          <a:xfrm>
            <a:off x="0" y="6444343"/>
            <a:ext cx="12192000" cy="41365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1064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5CF54-533C-3F02-94EC-A72005274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10342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pPr algn="ctr"/>
            <a:r>
              <a:rPr lang="en-IN" dirty="0"/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03CD2-5F87-0849-7F0D-022565E68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0196"/>
            <a:ext cx="10515600" cy="4351338"/>
          </a:xfrm>
        </p:spPr>
        <p:txBody>
          <a:bodyPr/>
          <a:lstStyle/>
          <a:p>
            <a:r>
              <a:rPr lang="en-IN" b="1" dirty="0"/>
              <a:t>Classification Metrics Used:</a:t>
            </a:r>
            <a:endParaRPr lang="en-IN" dirty="0"/>
          </a:p>
          <a:p>
            <a:pPr lvl="0"/>
            <a:r>
              <a:rPr lang="en-IN" dirty="0"/>
              <a:t>Accuracy</a:t>
            </a:r>
          </a:p>
          <a:p>
            <a:pPr lvl="0"/>
            <a:r>
              <a:rPr lang="en-IN" dirty="0"/>
              <a:t>Precision</a:t>
            </a:r>
          </a:p>
          <a:p>
            <a:pPr lvl="0"/>
            <a:r>
              <a:rPr lang="en-IN" dirty="0"/>
              <a:t>Recall</a:t>
            </a:r>
          </a:p>
          <a:p>
            <a:pPr lvl="0"/>
            <a:r>
              <a:rPr lang="en-IN" dirty="0"/>
              <a:t>F1-Score</a:t>
            </a:r>
          </a:p>
          <a:p>
            <a:pPr lvl="0"/>
            <a:r>
              <a:rPr lang="en-IN" dirty="0"/>
              <a:t>Confusion Matrix</a:t>
            </a:r>
          </a:p>
          <a:p>
            <a:pPr lvl="0"/>
            <a:r>
              <a:rPr lang="en-IN" dirty="0"/>
              <a:t>ROC Curve &amp; AUC</a:t>
            </a:r>
          </a:p>
          <a:p>
            <a:r>
              <a:rPr lang="en-IN" dirty="0"/>
              <a:t>These metrics ensure fair and reliable model comparison.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77D728-6156-B278-6C8A-90B70A8F1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9714" y="1612233"/>
            <a:ext cx="4677428" cy="30674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528D24-AD90-1EC8-156C-78D14348CDAA}"/>
              </a:ext>
            </a:extLst>
          </p:cNvPr>
          <p:cNvSpPr txBox="1"/>
          <p:nvPr/>
        </p:nvSpPr>
        <p:spPr>
          <a:xfrm>
            <a:off x="0" y="6444343"/>
            <a:ext cx="12192000" cy="41365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381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02292-4F57-1475-05BE-C32A93728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34142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pPr algn="ctr"/>
            <a:r>
              <a:rPr lang="en-IN" dirty="0"/>
              <a:t>Results &amp; Comparison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80B00E1-B110-DDA2-1C0E-4DF3D4F344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6112710"/>
              </p:ext>
            </p:extLst>
          </p:nvPr>
        </p:nvGraphicFramePr>
        <p:xfrm>
          <a:off x="587829" y="1513113"/>
          <a:ext cx="10994571" cy="38426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64857">
                  <a:extLst>
                    <a:ext uri="{9D8B030D-6E8A-4147-A177-3AD203B41FA5}">
                      <a16:colId xmlns:a16="http://schemas.microsoft.com/office/drawing/2014/main" val="3283872254"/>
                    </a:ext>
                  </a:extLst>
                </a:gridCol>
                <a:gridCol w="3664857">
                  <a:extLst>
                    <a:ext uri="{9D8B030D-6E8A-4147-A177-3AD203B41FA5}">
                      <a16:colId xmlns:a16="http://schemas.microsoft.com/office/drawing/2014/main" val="3726532600"/>
                    </a:ext>
                  </a:extLst>
                </a:gridCol>
                <a:gridCol w="3664857">
                  <a:extLst>
                    <a:ext uri="{9D8B030D-6E8A-4147-A177-3AD203B41FA5}">
                      <a16:colId xmlns:a16="http://schemas.microsoft.com/office/drawing/2014/main" val="3760249074"/>
                    </a:ext>
                  </a:extLst>
                </a:gridCol>
              </a:tblGrid>
              <a:tr h="640443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Metric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Logistic Regression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Random Forest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73310956"/>
                  </a:ext>
                </a:extLst>
              </a:tr>
              <a:tr h="640443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Accuracy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79%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84%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25994429"/>
                  </a:ext>
                </a:extLst>
              </a:tr>
              <a:tr h="640443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Precision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77%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83%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46417267"/>
                  </a:ext>
                </a:extLst>
              </a:tr>
              <a:tr h="640443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Recall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73%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81%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79498820"/>
                  </a:ext>
                </a:extLst>
              </a:tr>
              <a:tr h="640443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F1-Score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75%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82%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64546418"/>
                  </a:ext>
                </a:extLst>
              </a:tr>
              <a:tr h="640443"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ROC-AUC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0.82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0.88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4665124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6E00F79-3AB8-1F72-B7A0-526C80B1C0F8}"/>
              </a:ext>
            </a:extLst>
          </p:cNvPr>
          <p:cNvSpPr txBox="1"/>
          <p:nvPr/>
        </p:nvSpPr>
        <p:spPr>
          <a:xfrm>
            <a:off x="0" y="5459189"/>
            <a:ext cx="609600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Best Model: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Random Forest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835E74-4774-89C9-4585-50367DCDE3EA}"/>
              </a:ext>
            </a:extLst>
          </p:cNvPr>
          <p:cNvSpPr txBox="1"/>
          <p:nvPr/>
        </p:nvSpPr>
        <p:spPr>
          <a:xfrm>
            <a:off x="0" y="6444343"/>
            <a:ext cx="12192000" cy="41365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6930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FF5FE-1BC4-6B4C-B142-C16BD85A8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12370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pPr algn="ctr"/>
            <a:r>
              <a:rPr lang="en-IN" dirty="0"/>
              <a:t>Graphical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6F0C8-BB12-B63E-AE6E-C44BD6CAF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915" y="1253331"/>
            <a:ext cx="10515600" cy="4351338"/>
          </a:xfrm>
        </p:spPr>
        <p:txBody>
          <a:bodyPr/>
          <a:lstStyle/>
          <a:p>
            <a:r>
              <a:rPr lang="en-IN" b="1" dirty="0"/>
              <a:t>Best Model:</a:t>
            </a:r>
            <a:r>
              <a:rPr lang="en-IN" dirty="0"/>
              <a:t> Random Forest</a:t>
            </a:r>
          </a:p>
          <a:p>
            <a:pPr lvl="0"/>
            <a:r>
              <a:rPr lang="en-IN" dirty="0"/>
              <a:t>Confusion Matrix (Both Models)</a:t>
            </a:r>
          </a:p>
          <a:p>
            <a:pPr lvl="0"/>
            <a:r>
              <a:rPr lang="en-IN" dirty="0"/>
              <a:t>ROC Curve Comparison</a:t>
            </a:r>
          </a:p>
          <a:p>
            <a:pPr lvl="0"/>
            <a:r>
              <a:rPr lang="en-IN" dirty="0"/>
              <a:t>Accuracy Comparison Bar Chart</a:t>
            </a:r>
          </a:p>
          <a:p>
            <a:pPr lvl="0"/>
            <a:r>
              <a:rPr lang="en-IN" dirty="0"/>
              <a:t>Feature Importance Plot (Random Forest)</a:t>
            </a:r>
          </a:p>
          <a:p>
            <a:r>
              <a:rPr lang="en-IN" dirty="0"/>
              <a:t>(Random Forest shows better performance in all metrics)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881FA8-BA9C-B474-B7EA-937794C24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5692" y="1133588"/>
            <a:ext cx="2972215" cy="25530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7C0590-A5DA-A7B3-3769-D2664A45C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5692" y="3806387"/>
            <a:ext cx="2972215" cy="24292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552209-5680-A55B-81E8-6F6C7C63F2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31" y="4461509"/>
            <a:ext cx="2819794" cy="228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607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5550F-3398-C9A0-7813-B12FED2E9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10342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pPr algn="ctr"/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045DE-3C3F-3C6A-DF2F-6B3F2C6EE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1253331"/>
            <a:ext cx="10515600" cy="4351338"/>
          </a:xfrm>
        </p:spPr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 Machine Learning can effectively predict customer churn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 Random Forest outperformed Logistic Regression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 Important factors include tenure, contract type, and charges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 Churn prediction helps improve customer retention strategies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75811D-61A7-1EE8-73EA-0EBA91116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5514" y="3429000"/>
            <a:ext cx="5940771" cy="28302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F0A63A-877A-7F16-46AD-778A3F60A1F8}"/>
              </a:ext>
            </a:extLst>
          </p:cNvPr>
          <p:cNvSpPr txBox="1"/>
          <p:nvPr/>
        </p:nvSpPr>
        <p:spPr>
          <a:xfrm>
            <a:off x="0" y="6444343"/>
            <a:ext cx="12192000" cy="41365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0835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1C05B-E980-85F4-140E-2159D98CC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34142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pPr algn="ctr"/>
            <a:r>
              <a:rPr lang="en-IN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FA281-5C26-169B-AB39-CC1051562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Apply Deep Learning models (ANN)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Use real-time customer </a:t>
            </a:r>
            <a:r>
              <a:rPr lang="en-IN" dirty="0" err="1"/>
              <a:t>behavior</a:t>
            </a:r>
            <a:r>
              <a:rPr lang="en-IN" dirty="0"/>
              <a:t> data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Improve feature engineering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Integrate with CRM systems for automated alerts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2B4D78-AE94-7120-E870-EA59576A1A05}"/>
              </a:ext>
            </a:extLst>
          </p:cNvPr>
          <p:cNvSpPr txBox="1"/>
          <p:nvPr/>
        </p:nvSpPr>
        <p:spPr>
          <a:xfrm>
            <a:off x="0" y="6444343"/>
            <a:ext cx="12192000" cy="41365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7128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DAC2F-CD22-AFA7-11BF-76AFF60C9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7288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pPr algn="ctr"/>
            <a:r>
              <a:rPr lang="en-IN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5F2FE-0689-D2C1-9DF5-236767577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5341711"/>
            <a:ext cx="10515600" cy="772885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Thank You!</a:t>
            </a:r>
            <a:br>
              <a:rPr lang="en-IN" dirty="0"/>
            </a:br>
            <a:r>
              <a:rPr lang="en-IN" dirty="0"/>
              <a:t>Questions &amp; Discussion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693F02-277A-3226-D129-FDBC65095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681" y="892629"/>
            <a:ext cx="9830637" cy="42454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9273FA-0427-07EB-3055-AB273FE7F93D}"/>
              </a:ext>
            </a:extLst>
          </p:cNvPr>
          <p:cNvSpPr txBox="1"/>
          <p:nvPr/>
        </p:nvSpPr>
        <p:spPr>
          <a:xfrm>
            <a:off x="0" y="6444343"/>
            <a:ext cx="12192000" cy="41365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0093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394</Words>
  <Application>Microsoft Office PowerPoint</Application>
  <PresentationFormat>Widescreen</PresentationFormat>
  <Paragraphs>93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Wingdings</vt:lpstr>
      <vt:lpstr>Office Theme</vt:lpstr>
      <vt:lpstr>Customer Churn Prediction Using Machine Learning</vt:lpstr>
      <vt:lpstr>Introduction &amp; Motivation</vt:lpstr>
      <vt:lpstr>Problem Statement</vt:lpstr>
      <vt:lpstr>Dataset Description</vt:lpstr>
      <vt:lpstr>Data Pre-Processing</vt:lpstr>
      <vt:lpstr>Machine Learning Models Used</vt:lpstr>
      <vt:lpstr>Evaluation Metrics</vt:lpstr>
      <vt:lpstr>Results &amp; Comparison</vt:lpstr>
      <vt:lpstr>Graphical Analysis</vt:lpstr>
      <vt:lpstr>Conclusion</vt:lpstr>
      <vt:lpstr>Future Scope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VAIBHAV DWIVEDI</dc:creator>
  <cp:lastModifiedBy>VAIBHAV DWIVEDI</cp:lastModifiedBy>
  <cp:revision>1</cp:revision>
  <dcterms:created xsi:type="dcterms:W3CDTF">2025-12-28T06:53:48Z</dcterms:created>
  <dcterms:modified xsi:type="dcterms:W3CDTF">2025-12-28T06:53:48Z</dcterms:modified>
</cp:coreProperties>
</file>